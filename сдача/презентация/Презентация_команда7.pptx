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8.gif"/><Relationship Id="rId8" Type="http://schemas.openxmlformats.org/officeDocument/2006/relationships/image" Target="../media/image9.gif"/><Relationship Id="rId9" Type="http://schemas.openxmlformats.org/officeDocument/2006/relationships/image" Target="../media/image10.gif"/><Relationship Id="rId10" Type="http://schemas.openxmlformats.org/officeDocument/2006/relationships/image" Target="../media/image11.gif"/><Relationship Id="rId11" Type="http://schemas.openxmlformats.org/officeDocument/2006/relationships/image" Target="../media/image12.gif"/><Relationship Id="rId12" Type="http://schemas.openxmlformats.org/officeDocument/2006/relationships/image" Target="../media/image13.gif"/><Relationship Id="rId1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3" Type="http://schemas.openxmlformats.org/officeDocument/2006/relationships/image" Target="../media/image12.gif"/><Relationship Id="rId4" Type="http://schemas.openxmlformats.org/officeDocument/2006/relationships/image" Target="../media/image13.gif"/><Relationship Id="rId5" Type="http://schemas.openxmlformats.org/officeDocument/2006/relationships/image" Target="../media/image15.gif"/><Relationship Id="rId6" Type="http://schemas.openxmlformats.org/officeDocument/2006/relationships/image" Target="../media/image16.gif"/><Relationship Id="rId7" Type="http://schemas.openxmlformats.org/officeDocument/2006/relationships/image" Target="../media/image17.gif"/><Relationship Id="rId8" Type="http://schemas.openxmlformats.org/officeDocument/2006/relationships/image" Target="../media/image18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image" Target="../media/image16.gif"/><Relationship Id="rId4" Type="http://schemas.openxmlformats.org/officeDocument/2006/relationships/image" Target="../media/image17.gif"/><Relationship Id="rId5" Type="http://schemas.openxmlformats.org/officeDocument/2006/relationships/image" Target="../media/image19.gif"/><Relationship Id="rId6" Type="http://schemas.openxmlformats.org/officeDocument/2006/relationships/image" Target="../media/image20.gif"/><Relationship Id="rId7" Type="http://schemas.openxmlformats.org/officeDocument/2006/relationships/image" Target="../media/image21.gif"/><Relationship Id="rId8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Relationship Id="rId3" Type="http://schemas.openxmlformats.org/officeDocument/2006/relationships/image" Target="../media/image20.gif"/><Relationship Id="rId4" Type="http://schemas.openxmlformats.org/officeDocument/2006/relationships/image" Target="../media/image21.gif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7" Type="http://schemas.openxmlformats.org/officeDocument/2006/relationships/image" Target="../media/image10.gif"/><Relationship Id="rId8" Type="http://schemas.openxmlformats.org/officeDocument/2006/relationships/image" Target="../media/image23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3" Type="http://schemas.openxmlformats.org/officeDocument/2006/relationships/image" Target="../media/image12.gif"/><Relationship Id="rId4" Type="http://schemas.openxmlformats.org/officeDocument/2006/relationships/image" Target="../media/image13.gif"/><Relationship Id="rId5" Type="http://schemas.openxmlformats.org/officeDocument/2006/relationships/image" Target="../media/image15.gif"/><Relationship Id="rId6" Type="http://schemas.openxmlformats.org/officeDocument/2006/relationships/image" Target="../media/image16.gif"/><Relationship Id="rId7" Type="http://schemas.openxmlformats.org/officeDocument/2006/relationships/image" Target="../media/image17.gif"/><Relationship Id="rId8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image" Target="../media/image16.gif"/><Relationship Id="rId4" Type="http://schemas.openxmlformats.org/officeDocument/2006/relationships/image" Target="../media/image17.gif"/><Relationship Id="rId5" Type="http://schemas.openxmlformats.org/officeDocument/2006/relationships/image" Target="../media/image19.gif"/><Relationship Id="rId6" Type="http://schemas.openxmlformats.org/officeDocument/2006/relationships/image" Target="../media/image20.gif"/><Relationship Id="rId7" Type="http://schemas.openxmlformats.org/officeDocument/2006/relationships/image" Target="../media/image21.gif"/><Relationship Id="rId8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Relationship Id="rId3" Type="http://schemas.openxmlformats.org/officeDocument/2006/relationships/image" Target="../media/image20.gif"/><Relationship Id="rId4" Type="http://schemas.openxmlformats.org/officeDocument/2006/relationships/image" Target="../media/image21.gif"/><Relationship Id="rId5" Type="http://schemas.openxmlformats.org/officeDocument/2006/relationships/image" Target="../media/image8.gif"/><Relationship Id="rId6" Type="http://schemas.openxmlformats.org/officeDocument/2006/relationships/image" Target="../media/image9.gif"/><Relationship Id="rId7" Type="http://schemas.openxmlformats.org/officeDocument/2006/relationships/image" Target="../media/image10.gif"/><Relationship Id="rId8" Type="http://schemas.openxmlformats.org/officeDocument/2006/relationships/image" Target="../media/image18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gif"/><Relationship Id="rId3" Type="http://schemas.openxmlformats.org/officeDocument/2006/relationships/image" Target="../media/image9.gif"/><Relationship Id="rId4" Type="http://schemas.openxmlformats.org/officeDocument/2006/relationships/image" Target="../media/image10.gif"/><Relationship Id="rId5" Type="http://schemas.openxmlformats.org/officeDocument/2006/relationships/image" Target="../media/image11.gif"/><Relationship Id="rId6" Type="http://schemas.openxmlformats.org/officeDocument/2006/relationships/image" Target="../media/image12.gif"/><Relationship Id="rId7" Type="http://schemas.openxmlformats.org/officeDocument/2006/relationships/image" Target="../media/image13.gif"/><Relationship Id="rId8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3" Type="http://schemas.openxmlformats.org/officeDocument/2006/relationships/image" Target="../media/image12.gif"/><Relationship Id="rId4" Type="http://schemas.openxmlformats.org/officeDocument/2006/relationships/image" Target="../media/image13.gif"/><Relationship Id="rId5" Type="http://schemas.openxmlformats.org/officeDocument/2006/relationships/image" Target="../media/image15.gif"/><Relationship Id="rId6" Type="http://schemas.openxmlformats.org/officeDocument/2006/relationships/image" Target="../media/image16.gif"/><Relationship Id="rId7" Type="http://schemas.openxmlformats.org/officeDocument/2006/relationships/image" Target="../media/image17.gif"/><Relationship Id="rId8" Type="http://schemas.openxmlformats.org/officeDocument/2006/relationships/image" Target="../media/image23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image" Target="../media/image16.gif"/><Relationship Id="rId4" Type="http://schemas.openxmlformats.org/officeDocument/2006/relationships/image" Target="../media/image17.gif"/><Relationship Id="rId5" Type="http://schemas.openxmlformats.org/officeDocument/2006/relationships/image" Target="../media/image19.gif"/><Relationship Id="rId6" Type="http://schemas.openxmlformats.org/officeDocument/2006/relationships/image" Target="../media/image20.gif"/><Relationship Id="rId7" Type="http://schemas.openxmlformats.org/officeDocument/2006/relationships/image" Target="../media/image21.gif"/><Relationship Id="rId8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gif"/><Relationship Id="rId4" Type="http://schemas.openxmlformats.org/officeDocument/2006/relationships/image" Target="../media/image20.gif"/><Relationship Id="rId5" Type="http://schemas.openxmlformats.org/officeDocument/2006/relationships/image" Target="../media/image21.gif"/><Relationship Id="rId6" Type="http://schemas.openxmlformats.org/officeDocument/2006/relationships/image" Target="../media/image8.gif"/><Relationship Id="rId7" Type="http://schemas.openxmlformats.org/officeDocument/2006/relationships/image" Target="../media/image9.gif"/><Relationship Id="rId8" Type="http://schemas.openxmlformats.org/officeDocument/2006/relationships/image" Target="../media/image10.gif"/><Relationship Id="rId9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gif"/><Relationship Id="rId4" Type="http://schemas.openxmlformats.org/officeDocument/2006/relationships/image" Target="../media/image9.gif"/><Relationship Id="rId5" Type="http://schemas.openxmlformats.org/officeDocument/2006/relationships/image" Target="../media/image10.gif"/><Relationship Id="rId6" Type="http://schemas.openxmlformats.org/officeDocument/2006/relationships/image" Target="../media/image11.gif"/><Relationship Id="rId7" Type="http://schemas.openxmlformats.org/officeDocument/2006/relationships/image" Target="../media/image12.gif"/><Relationship Id="rId8" Type="http://schemas.openxmlformats.org/officeDocument/2006/relationships/image" Target="../media/image13.gif"/><Relationship Id="rId9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gif"/><Relationship Id="rId3" Type="http://schemas.openxmlformats.org/officeDocument/2006/relationships/image" Target="../media/image12.gif"/><Relationship Id="rId4" Type="http://schemas.openxmlformats.org/officeDocument/2006/relationships/image" Target="../media/image13.gif"/><Relationship Id="rId5" Type="http://schemas.openxmlformats.org/officeDocument/2006/relationships/image" Target="../media/image15.gif"/><Relationship Id="rId6" Type="http://schemas.openxmlformats.org/officeDocument/2006/relationships/image" Target="../media/image16.gif"/><Relationship Id="rId7" Type="http://schemas.openxmlformats.org/officeDocument/2006/relationships/image" Target="../media/image17.gif"/><Relationship Id="rId8" Type="http://schemas.openxmlformats.org/officeDocument/2006/relationships/image" Target="../media/image18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gif"/><Relationship Id="rId3" Type="http://schemas.openxmlformats.org/officeDocument/2006/relationships/image" Target="../media/image16.gif"/><Relationship Id="rId4" Type="http://schemas.openxmlformats.org/officeDocument/2006/relationships/image" Target="../media/image17.gif"/><Relationship Id="rId5" Type="http://schemas.openxmlformats.org/officeDocument/2006/relationships/image" Target="../media/image19.gif"/><Relationship Id="rId6" Type="http://schemas.openxmlformats.org/officeDocument/2006/relationships/image" Target="../media/image20.gif"/><Relationship Id="rId7" Type="http://schemas.openxmlformats.org/officeDocument/2006/relationships/image" Target="../media/image21.gif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7D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468000"/>
            <a:ext cx="79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D4330"/>
                </a:solidFill>
                <a:latin typeface="Calibri"/>
              </a:rPr>
              <a:t>КОМАНДА 7  ·  КИПУ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27999"/>
            <a:ext cx="7920000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D4330"/>
                </a:solidFill>
                <a:latin typeface="Georgia"/>
              </a:rPr>
              <a:t>Сортировка
в современных языках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2951999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D4330"/>
                </a:solidFill>
                <a:latin typeface="Calibri"/>
              </a:rPr>
              <a:t>Python, Java, C#, JavaScript, C++
28 октября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3816000"/>
            <a:ext cx="576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D4330"/>
                </a:solidFill>
                <a:latin typeface="Calibri"/>
              </a:rPr>
              <a:t>Подъячий Глеб
Керимов Андрей
Мамбетов Родион
Черакаев Антон
Кулиш Артём</a:t>
            </a:r>
          </a:p>
        </p:txBody>
      </p:sp>
      <p:pic>
        <p:nvPicPr>
          <p:cNvPr id="9" name="Picture 8" descr="ch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000" y="1152000"/>
            <a:ext cx="1368000" cy="1655999"/>
          </a:xfrm>
          <a:prstGeom prst="rect">
            <a:avLst/>
          </a:prstGeom>
        </p:spPr>
      </p:pic>
      <p:pic>
        <p:nvPicPr>
          <p:cNvPr id="10" name="Picture 9" descr="wav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000" y="1152000"/>
            <a:ext cx="1368000" cy="1655999"/>
          </a:xfrm>
          <a:prstGeom prst="rect">
            <a:avLst/>
          </a:prstGeom>
        </p:spPr>
      </p:pic>
      <p:pic>
        <p:nvPicPr>
          <p:cNvPr id="11" name="Picture 10" descr="curl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000" y="1152000"/>
            <a:ext cx="1368000" cy="1655999"/>
          </a:xfrm>
          <a:prstGeom prst="rect">
            <a:avLst/>
          </a:prstGeom>
        </p:spPr>
      </p:pic>
      <p:pic>
        <p:nvPicPr>
          <p:cNvPr id="12" name="Picture 11" descr="ki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2000" y="3096000"/>
            <a:ext cx="1368000" cy="1655999"/>
          </a:xfrm>
          <a:prstGeom prst="rect">
            <a:avLst/>
          </a:prstGeom>
        </p:spPr>
      </p:pic>
      <p:pic>
        <p:nvPicPr>
          <p:cNvPr id="13" name="Picture 12" descr="shrim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4000" y="3096000"/>
            <a:ext cx="1368000" cy="1655999"/>
          </a:xfrm>
          <a:prstGeom prst="rect">
            <a:avLst/>
          </a:prstGeom>
        </p:spPr>
      </p:pic>
      <p:pic>
        <p:nvPicPr>
          <p:cNvPr id="14" name="Picture 13" descr="icon_3a551453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15" name="Picture 14" descr="icon_9b7cb59e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6" name="Picture 15" descr="icon_6fa3ef35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7" name="Picture 16" descr="icon_58000a7d.gi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8" name="Picture 17" descr="icon_f060a0f0.gif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9" name="Picture 18" descr="icon_3a8f55d3.gi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20" name="Picture 19" descr="gallery26_de8642b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Зачем этот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6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8D4330"/>
                </a:solidFill>
                <a:latin typeface="Calibri"/>
              </a:defRPr>
            </a:pPr>
            <a:r>
              <a:t>Одинаковое имя sort прячет разные алгоритмы.</a:t>
            </a:r>
          </a:p>
          <a:p>
            <a:pPr>
              <a:defRPr sz="2400">
                <a:solidFill>
                  <a:srgbClr val="8D4330"/>
                </a:solidFill>
                <a:latin typeface="Calibri"/>
              </a:defRPr>
            </a:pPr>
            <a:r>
              <a:t>Где-то устойчивый Timsort, где-то быстрая сортировка с пирамидой на подхвате.</a:t>
            </a:r>
          </a:p>
          <a:p>
            <a:pPr>
              <a:defRPr sz="2400">
                <a:solidFill>
                  <a:srgbClr val="8D4330"/>
                </a:solidFill>
                <a:latin typeface="Calibri"/>
              </a:defRPr>
            </a:pPr>
            <a:r>
              <a:t>Мы мерили встроенные функции на одних и тех же массивах.</a:t>
            </a:r>
          </a:p>
          <a:p>
            <a:pPr>
              <a:defRPr sz="2400">
                <a:solidFill>
                  <a:srgbClr val="8D4330"/>
                </a:solidFill>
                <a:latin typeface="Calibri"/>
              </a:defRPr>
            </a:pPr>
            <a:r>
              <a:t>Два вопроса до выбора: нужна ли устойчивость и есть ли в данных готовый порядок.</a:t>
            </a:r>
          </a:p>
          <a:p>
            <a:pPr>
              <a:defRPr sz="2400">
                <a:solidFill>
                  <a:srgbClr val="8D4330"/>
                </a:solidFill>
                <a:latin typeface="Calibri"/>
              </a:defRPr>
            </a:pPr>
            <a:r>
              <a:t>Лидер: Подъячий Глеб. Каждый говорит не меньше минуты про свой язык.</a:t>
            </a:r>
          </a:p>
        </p:txBody>
      </p:sp>
      <p:pic>
        <p:nvPicPr>
          <p:cNvPr id="7" name="Picture 6" descr="icon_58000a7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f060a0f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3a8f55d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e791ba5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d94fd6a7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icon_199d08cc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3" name="Picture 12" descr="gallery26_2a7fa78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Семь вызовов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000" y="792000"/>
          <a:ext cx="11231999" cy="54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4320000"/>
                <a:gridCol w="3311999"/>
              </a:tblGrid>
              <a:tr h="684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Вызов</a:t>
                      </a:r>
                    </a:p>
                  </a:txBody>
                  <a:tcPr anchor="ctr">
                    <a:solidFill>
                      <a:srgbClr val="8D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Алгоритм</a:t>
                      </a:r>
                    </a:p>
                  </a:txBody>
                  <a:tcPr anchor="ctr">
                    <a:solidFill>
                      <a:srgbClr val="8D43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Порядок равных</a:t>
                      </a:r>
                    </a:p>
                  </a:txBody>
                  <a:tcPr anchor="ctr">
                    <a:solidFill>
                      <a:srgbClr val="8D4330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Python list.sort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Timsort, Powersort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хранит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Java int[]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Dual-Pivot Quicksort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для чисел неразличим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Java Integer[]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Timsort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хранит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C# Array.Sort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introsort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не хранит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JavaScript, V8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Timsort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язык требует хранить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C++ std::sort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introsort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не хранит</a:t>
                      </a:r>
                    </a:p>
                  </a:txBody>
                  <a:tcPr anchor="ctr">
                    <a:solidFill>
                      <a:srgbClr val="FF8BA6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C++ stable_sort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слияние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8D4330"/>
                          </a:solidFill>
                          <a:latin typeface="Calibri"/>
                        </a:defRPr>
                      </a:pPr>
                      <a:r>
                        <a:t>хранит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icon_e791ba5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d94fd6a7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199d08cc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afcf929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07d0509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gallery249_fc75801a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270000"/>
          </a:xfrm>
          <a:prstGeom prst="rect">
            <a:avLst/>
          </a:prstGeom>
        </p:spPr>
      </p:pic>
      <p:pic>
        <p:nvPicPr>
          <p:cNvPr id="13" name="Picture 12" descr="gallery26_72115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Устойчивость на двух двойках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27999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2 А стояла левее 2 Б. Обе меньше восьмёрки.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Устойчивая сортировка ставит числа по возрастанию и не меняет А и Б местами.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Неустойчивая может поставить 2 Б левее, хотя значения равны.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Проверка была на 400 парах, не на десятке: короткий кусок introsort добивает вставками и случайно сохраняет порядок.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Сохранили: Python, JavaScript, объекты Java, std::stable_sort.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Сломали: C# Array.Sort и C++ std::sort.</a:t>
            </a:r>
          </a:p>
        </p:txBody>
      </p:sp>
      <p:pic>
        <p:nvPicPr>
          <p:cNvPr id="7" name="Picture 6" descr="icon_afcf929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07d0509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gallery249_fc75801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282857"/>
          </a:xfrm>
          <a:prstGeom prst="rect">
            <a:avLst/>
          </a:prstGeom>
        </p:spPr>
      </p:pic>
      <p:pic>
        <p:nvPicPr>
          <p:cNvPr id="10" name="Picture 9" descr="icon_3a55145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9b7cb59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icon_6fa3ef3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3" name="Picture 12" descr="gallery26_2aa577e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Timsort и Powersort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27999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Timsort ищет уже готовые серии: вверх или вниз.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Нисходящую серию разворачивает. Короткую добирает вставками до minrun, обычно 32-64.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Потом серии сливает. Равные забирает из левой серии, поэтому порядок хранится.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Память O(n). На полностью готовом массиве серия одна, время близко к линейному.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 Python 3.11 порядок слияния выбирает Powersort: не клеить крошку к гиганту, если рядом ровнее пара.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Так устроены Python list.sort, Java для объектов и V8.</a:t>
            </a:r>
          </a:p>
        </p:txBody>
      </p:sp>
      <p:pic>
        <p:nvPicPr>
          <p:cNvPr id="7" name="Picture 6" descr="icon_3a55145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9b7cb59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6fa3ef35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58000a7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f060a0f0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icon_3a8f55d3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3" name="Picture 12" descr="gallery26_95c38f5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68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B78"/>
                </a:solidFill>
                <a:latin typeface="Calibri"/>
              </a:rPr>
              <a:t>Подъячий Глеб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04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list.sort и sorted. Устойчивая адаптивная сортировка слиянием.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Случайный миллион: 277 мс. Уже упорядоченный: 5,86 мс.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Порядок равных в проверке сохранился.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277 мс рядом с Java для объектов (260) и далеко от Java для int (48).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Это цена языка и сравнения, не приговор Timsort.</a:t>
            </a:r>
          </a:p>
        </p:txBody>
      </p:sp>
      <p:pic>
        <p:nvPicPr>
          <p:cNvPr id="8" name="Picture 7" descr="icon_58000a7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9" name="Picture 8" descr="icon_f060a0f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0" name="Picture 9" descr="icon_3a8f55d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1" name="Picture 10" descr="icon_e791ba5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2" name="Picture 11" descr="icon_d94fd6a7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3" name="Picture 12" descr="icon_199d08cc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4" name="Picture 13" descr="gallery28_33ade54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Java, две функции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68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B78"/>
                </a:solidFill>
                <a:latin typeface="Calibri"/>
              </a:rPr>
              <a:t>Керимов Андрей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04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int[]: Dual-Pivot Quicksort. Два опорных, три части, вставки на коротком куске.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Готовые серии реализация замечает. Поэтому упорядоченный миллион: 0,11 мс против 48 мс.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Integer[]: устойчивый Timsort, на случайном миллионе 260 мс.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У голых чисел нет «кто был левее». У объектов есть, и Java это хранит.</a:t>
            </a:r>
          </a:p>
        </p:txBody>
      </p:sp>
      <p:pic>
        <p:nvPicPr>
          <p:cNvPr id="8" name="Picture 7" descr="icon_e791ba5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9" name="Picture 8" descr="icon_d94fd6a7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0" name="Picture 9" descr="icon_199d08cc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1" name="Picture 10" descr="icon_afcf929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2" name="Picture 11" descr="icon_07d0509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3" name="Picture 12" descr="gallery249_fc75801a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270000"/>
          </a:xfrm>
          <a:prstGeom prst="rect">
            <a:avLst/>
          </a:prstGeom>
        </p:spPr>
      </p:pic>
      <p:pic>
        <p:nvPicPr>
          <p:cNvPr id="14" name="Picture 13" descr="gallery26_de8642b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C#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68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B78"/>
                </a:solidFill>
                <a:latin typeface="Calibri"/>
              </a:rPr>
              <a:t>Мамбетов Родион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04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Array.Sort это introsort. Кусок короче 17 элементов уходит во вставки.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Слишком глубокая рекурсия уходит в пирамиду, худший случай остаётся n log n.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Случайный миллион: 48 мс. Порядок равных в проверке сломался.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Если порядок важен: LINQ OrderBy. При равенстве сравнивается исходный номер.</a:t>
            </a:r>
          </a:p>
        </p:txBody>
      </p:sp>
      <p:pic>
        <p:nvPicPr>
          <p:cNvPr id="8" name="Picture 7" descr="icon_afcf929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9" name="Picture 8" descr="icon_07d0509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0" name="Picture 9" descr="gallery249_fc75801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282857"/>
          </a:xfrm>
          <a:prstGeom prst="rect">
            <a:avLst/>
          </a:prstGeom>
        </p:spPr>
      </p:pic>
      <p:pic>
        <p:nvPicPr>
          <p:cNvPr id="11" name="Picture 10" descr="icon_3a55145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2" name="Picture 11" descr="icon_9b7cb59e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3" name="Picture 12" descr="icon_6fa3ef3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4" name="Picture 13" descr="gallery26_2a7fa78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68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B78"/>
                </a:solidFill>
                <a:latin typeface="Calibri"/>
              </a:rPr>
              <a:t>Кулиш Артём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04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С ES2019 сортировка обязана быть устойчивой. Алгоритм стандарт не назначает.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Node 24 и Chrome, движок V8, используют Timsort. Замер сделан там.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Случайный миллион: 175 мс. Упорядоченный: 8,88 мс. Порядок равных сохранился.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Без функции сравнения [10, 2, 1] становится [1, 10, 2]: строки, не числа.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Нужный вызов: array.sort((a, b) =&gt; a - b).</a:t>
            </a:r>
          </a:p>
        </p:txBody>
      </p:sp>
      <p:pic>
        <p:nvPicPr>
          <p:cNvPr id="8" name="Picture 7" descr="icon_3a551453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9" name="Picture 8" descr="icon_9b7cb59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0" name="Picture 9" descr="icon_6fa3ef35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1" name="Picture 10" descr="icon_58000a7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2" name="Picture 11" descr="icon_f060a0f0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3" name="Picture 12" descr="icon_3a8f55d3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4" name="Picture 13" descr="gallery26_72115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68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B78"/>
                </a:solidFill>
                <a:latin typeface="Calibri"/>
              </a:rPr>
              <a:t>Черакаев Антон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044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Замер на MSVC 2022. std::sort это introsort, на месте, без устойчивости.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Вставки до 32 элементов. Плохая глубина уходит в пирамиду.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Случайный миллион: std::sort 55 мс, std::stable_sort 52 мс.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stable_sort это слияние и в проверке порядок сохранил.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Числа и скорость: std::sort. Прежний порядок равных записей: stable_sort.</a:t>
            </a:r>
          </a:p>
        </p:txBody>
      </p:sp>
      <p:pic>
        <p:nvPicPr>
          <p:cNvPr id="8" name="Picture 7" descr="icon_58000a7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9" name="Picture 8" descr="icon_f060a0f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0" name="Picture 9" descr="icon_3a8f55d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1" name="Picture 10" descr="icon_e791ba5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2" name="Picture 11" descr="icon_d94fd6a7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3" name="Picture 12" descr="icon_199d08cc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4" name="Picture 13" descr="gallery26_2aa577e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Как мерили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27999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Один генератор, зерно 7. Пять рисунков: случайный, вверх, вниз, 10 разных значений, почти упорядоченный.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Размеры: 10 тысяч, 100 тысяч, 1 миллион. Все языки читали один файл.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Первая попытка выбрасывалась. Дальше медиана пяти. Чтение файла в время не входит.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От 100 тысяч к миллиону на случайных данных время выросло примерно в 12-14 раз. Это n log n.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Сборка Java шла из латинской временной папки: javac на этой машине портит кириллицу в пути.</a:t>
            </a:r>
          </a:p>
        </p:txBody>
      </p:sp>
      <p:pic>
        <p:nvPicPr>
          <p:cNvPr id="7" name="Picture 6" descr="icon_e791ba5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d94fd6a7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199d08cc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afcf929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07d0509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gallery249_fc75801a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270000"/>
          </a:xfrm>
          <a:prstGeom prst="rect">
            <a:avLst/>
          </a:prstGeom>
        </p:spPr>
      </p:pic>
      <p:pic>
        <p:nvPicPr>
          <p:cNvPr id="13" name="Picture 12" descr="gallery26_95c38f5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Случайный миллион</a:t>
            </a:r>
          </a:p>
        </p:txBody>
      </p:sp>
      <p:pic>
        <p:nvPicPr>
          <p:cNvPr id="6" name="Picture 5" descr="fig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000" y="756000"/>
            <a:ext cx="9720000" cy="5544000"/>
          </a:xfrm>
          <a:prstGeom prst="rect">
            <a:avLst/>
          </a:prstGeom>
        </p:spPr>
      </p:pic>
      <p:pic>
        <p:nvPicPr>
          <p:cNvPr id="7" name="Picture 6" descr="icon_afcf929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07d05094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gallery249_fc75801a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" y="3024000"/>
            <a:ext cx="396000" cy="282857"/>
          </a:xfrm>
          <a:prstGeom prst="rect">
            <a:avLst/>
          </a:prstGeom>
        </p:spPr>
      </p:pic>
      <p:pic>
        <p:nvPicPr>
          <p:cNvPr id="10" name="Picture 9" descr="icon_3a551453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9b7cb59e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icon_6fa3ef35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3" name="Picture 12" descr="gallery28_33ade54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Уже упорядоченный миллион</a:t>
            </a:r>
          </a:p>
        </p:txBody>
      </p:sp>
      <p:pic>
        <p:nvPicPr>
          <p:cNvPr id="6" name="Picture 5" descr="fig_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00" y="720000"/>
            <a:ext cx="7560000" cy="561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36000" y="1152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D4330"/>
                </a:solidFill>
                <a:latin typeface="Calibri"/>
              </a:rPr>
              <a:t>Java int
0,11 мс
вместо 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6000" y="3024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D4330"/>
                </a:solidFill>
                <a:latin typeface="Calibri"/>
              </a:rPr>
              <a:t>Python
5,86 мс
вместо 277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6000" y="4824000"/>
            <a:ext cx="32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D4330"/>
                </a:solidFill>
                <a:latin typeface="Calibri"/>
              </a:rPr>
              <a:t>Готовый порядок
адаптивные
используют</a:t>
            </a:r>
          </a:p>
        </p:txBody>
      </p:sp>
      <p:pic>
        <p:nvPicPr>
          <p:cNvPr id="10" name="Picture 9" descr="icon_3a55145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11" name="Picture 10" descr="icon_9b7cb59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12" name="Picture 11" descr="icon_6fa3ef3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3" name="Picture 12" descr="icon_58000a7d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4" name="Picture 13" descr="icon_f060a0f0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5" name="Picture 14" descr="icon_3a8f55d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6" name="Picture 15" descr="gallery26_de8642b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6000" y="162000"/>
            <a:ext cx="1008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8D4330"/>
                </a:solidFill>
                <a:latin typeface="Georgia"/>
              </a:rPr>
              <a:t>Коротко по цифрам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827999"/>
            <a:ext cx="1080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8D4330"/>
                </a:solidFill>
                <a:latin typeface="Calibri"/>
              </a:defRPr>
            </a:pPr>
            <a:r>
              <a:t>C++ не «быстрее как алгоритм». 48 мс и 277 мс это цена языка и объектов.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Java int на убывании тоже почти мгновенный, 0,64 мс: видит длинную серию вниз.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Стандарт C++ не обязывает именно introsort. Это выбор MSVC. Гарантия: среднее n log n и нет устойчивости.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Стандарт JavaScript не обязывает Timsort. Обязывает устойчивость. Timsort здесь потому, что движок V8.</a:t>
            </a:r>
          </a:p>
          <a:p>
            <a:pPr>
              <a:defRPr sz="2200">
                <a:solidFill>
                  <a:srgbClr val="8D4330"/>
                </a:solidFill>
                <a:latin typeface="Calibri"/>
              </a:defRPr>
            </a:pPr>
            <a:r>
              <a:t>Порядок равных у int не проверяли: две одинаковые пятёрки неразличимы.</a:t>
            </a:r>
          </a:p>
        </p:txBody>
      </p:sp>
      <p:pic>
        <p:nvPicPr>
          <p:cNvPr id="7" name="Picture 6" descr="icon_58000a7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f060a0f0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3a8f55d3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e791ba55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d94fd6a7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icon_199d08cc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378000"/>
          </a:xfrm>
          <a:prstGeom prst="rect">
            <a:avLst/>
          </a:prstGeom>
        </p:spPr>
      </p:pic>
      <p:pic>
        <p:nvPicPr>
          <p:cNvPr id="13" name="Picture 12" descr="gallery26_2a7fa783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D43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92000" y="-864000"/>
            <a:ext cx="2520000" cy="2520000"/>
          </a:xfrm>
          <a:prstGeom prst="ellipse">
            <a:avLst/>
          </a:prstGeom>
          <a:solidFill>
            <a:srgbClr val="FF8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20000" y="5112000"/>
            <a:ext cx="2160000" cy="2160000"/>
          </a:xfrm>
          <a:prstGeom prst="ellipse">
            <a:avLst/>
          </a:prstGeom>
          <a:solidFill>
            <a:srgbClr val="FFC1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80000" y="-648000"/>
            <a:ext cx="1512000" cy="1512000"/>
          </a:xfrm>
          <a:prstGeom prst="ellipse">
            <a:avLst/>
          </a:prstGeom>
          <a:solidFill>
            <a:srgbClr val="FFD6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000" y="251999"/>
            <a:ext cx="10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Georgia"/>
              </a:rPr>
              <a:t>Выводы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FFFFF"/>
                </a:solidFill>
                <a:latin typeface="Calibri"/>
              </a:defRPr>
            </a:pPr>
            <a:r>
              <a:t>sort в разных языках не означает один алгоритм.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Хранят порядок и любят готовые серии: Python, V8, объекты Java, std::stable_sort.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Быстрые и почти на месте: std::sort, Array.Sort, Java int[].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Короткий кусок везде добирают вставками. Квадрат у introsort обрывает пирамида.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Выбор зависит от двух вещей: порядок равных и готовые куски в данных.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В JavaScript для чисел нужен компаратор (a, b) =&gt; a - b.</a:t>
            </a:r>
          </a:p>
        </p:txBody>
      </p:sp>
      <p:pic>
        <p:nvPicPr>
          <p:cNvPr id="7" name="Picture 6" descr="icon_e791ba55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" y="43200"/>
            <a:ext cx="413999" cy="413999"/>
          </a:xfrm>
          <a:prstGeom prst="rect">
            <a:avLst/>
          </a:prstGeom>
        </p:spPr>
      </p:pic>
      <p:pic>
        <p:nvPicPr>
          <p:cNvPr id="8" name="Picture 7" descr="icon_d94fd6a7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6000" y="54000"/>
            <a:ext cx="378000" cy="378000"/>
          </a:xfrm>
          <a:prstGeom prst="rect">
            <a:avLst/>
          </a:prstGeom>
        </p:spPr>
      </p:pic>
      <p:pic>
        <p:nvPicPr>
          <p:cNvPr id="9" name="Picture 8" descr="icon_199d08cc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" y="3024000"/>
            <a:ext cx="396000" cy="396000"/>
          </a:xfrm>
          <a:prstGeom prst="rect">
            <a:avLst/>
          </a:prstGeom>
        </p:spPr>
      </p:pic>
      <p:pic>
        <p:nvPicPr>
          <p:cNvPr id="10" name="Picture 9" descr="icon_afcf929d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4000" y="3096000"/>
            <a:ext cx="378000" cy="378000"/>
          </a:xfrm>
          <a:prstGeom prst="rect">
            <a:avLst/>
          </a:prstGeom>
        </p:spPr>
      </p:pic>
      <p:pic>
        <p:nvPicPr>
          <p:cNvPr id="11" name="Picture 10" descr="icon_07d0509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0" y="6282000"/>
            <a:ext cx="396000" cy="396000"/>
          </a:xfrm>
          <a:prstGeom prst="rect">
            <a:avLst/>
          </a:prstGeom>
        </p:spPr>
      </p:pic>
      <p:pic>
        <p:nvPicPr>
          <p:cNvPr id="12" name="Picture 11" descr="gallery249_fc75801a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7999" y="6263999"/>
            <a:ext cx="378000" cy="270000"/>
          </a:xfrm>
          <a:prstGeom prst="rect">
            <a:avLst/>
          </a:prstGeom>
        </p:spPr>
      </p:pic>
      <p:pic>
        <p:nvPicPr>
          <p:cNvPr id="13" name="Picture 12" descr="gallery26_72115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000" y="6426000"/>
            <a:ext cx="1224000" cy="41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